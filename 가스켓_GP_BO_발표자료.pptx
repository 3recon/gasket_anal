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ac1828c6-71c7-e4a4-9b24-62bda1bd0dea}">
          <p14:sldIdLst>
            <p14:sldId id="256"/>
            <p14:sldId id="257"/>
          </p14:sldIdLst>
        </p14:section>
        <p14:section name="데이터" id="{ad375fc8-2cde-60e0-ebfc-11d2c817547f}">
          <p14:sldIdLst>
            <p14:sldId id="258"/>
          </p14:sldIdLst>
        </p14:section>
        <p14:section name="방법" id="{18d3dfe8-c344-3363-4927-062a4bdc3111}">
          <p14:sldIdLst>
            <p14:sldId id="259"/>
            <p14:sldId id="260"/>
          </p14:sldIdLst>
        </p14:section>
        <p14:section name="결과" id="{2d6fe444-9d26-8a51-afe5-57dcde702ac3}">
          <p14:sldIdLst>
            <p14:sldId id="261"/>
            <p14:sldId id="262"/>
            <p14:sldId id="263"/>
          </p14:sldIdLst>
        </p14:section>
        <p14:section name="활용" id="{ec7ef667-728a-2425-000d-1aa4b99a3228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631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+mn-lt"/>
              </a:rPr>
              <a:t>출원인 그룹별 데이터 수 (행)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수집</c:v>
                </c:pt>
              </c:strCache>
            </c:strRef>
          </c:tx>
          <c:spPr>
            <a:solidFill>
              <a:srgbClr val="B8C7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9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Daikin</c:v>
                  </c:pt>
                  <c:pt idx="1">
                    <c:v>DuPont·3M·GT</c:v>
                  </c:pt>
                  <c:pt idx="2">
                    <c:v>일본 실링사</c:v>
                  </c:pt>
                  <c:pt idx="3">
                    <c:v>한국·중국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113</c:v>
                </c:pt>
                <c:pt idx="2">
                  <c:v>158</c:v>
                </c:pt>
                <c:pt idx="3">
                  <c:v>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모델링 사용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9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Daikin</c:v>
                  </c:pt>
                  <c:pt idx="1">
                    <c:v>DuPont·3M·GT</c:v>
                  </c:pt>
                  <c:pt idx="2">
                    <c:v>일본 실링사</c:v>
                  </c:pt>
                  <c:pt idx="3">
                    <c:v>한국·중국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104</c:v>
                </c:pt>
                <c:pt idx="2">
                  <c:v>125</c:v>
                </c:pt>
                <c:pt idx="3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9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9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8EA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631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1B2631"/>
                </a:solidFill>
                <a:latin typeface="+mn-lt"/>
              </a:rPr>
              <a:t>홀드아웃 테스트 R² (음수는 0으로 표시)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 (BO 최적)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9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경도</c:v>
                  </c:pt>
                  <c:pt idx="1">
                    <c:v>인장강도</c:v>
                  </c:pt>
                  <c:pt idx="2">
                    <c:v>신율</c:v>
                  </c:pt>
                  <c:pt idx="3">
                    <c:v>M100</c:v>
                  </c:pt>
                  <c:pt idx="4">
                    <c:v>압축영구줄음률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0.9192872115097895</c:v>
                </c:pt>
                <c:pt idx="1">
                  <c:v>0.4834092692493802</c:v>
                </c:pt>
                <c:pt idx="2">
                  <c:v>0</c:v>
                </c:pt>
                <c:pt idx="3">
                  <c:v>0.8142502853840807</c:v>
                </c:pt>
                <c:pt idx="4">
                  <c:v>0.09747608741403979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B8C7D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9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경도</c:v>
                  </c:pt>
                  <c:pt idx="1">
                    <c:v>인장강도</c:v>
                  </c:pt>
                  <c:pt idx="2">
                    <c:v>신율</c:v>
                  </c:pt>
                  <c:pt idx="3">
                    <c:v>M100</c:v>
                  </c:pt>
                  <c:pt idx="4">
                    <c:v>압축영구줄음률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0.8129429763422555</c:v>
                </c:pt>
                <c:pt idx="1">
                  <c:v>0.4049465682217446</c:v>
                </c:pt>
                <c:pt idx="2">
                  <c:v>0.5974144453015642</c:v>
                </c:pt>
                <c:pt idx="3">
                  <c:v>0.6695255896064634</c:v>
                </c:pt>
                <c:pt idx="4">
                  <c:v>0.16532004205815642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E078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9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경도</c:v>
                  </c:pt>
                  <c:pt idx="1">
                    <c:v>인장강도</c:v>
                  </c:pt>
                  <c:pt idx="2">
                    <c:v>신율</c:v>
                  </c:pt>
                  <c:pt idx="3">
                    <c:v>M100</c:v>
                  </c:pt>
                  <c:pt idx="4">
                    <c:v>압축영구줄음률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0.7746482092637588</c:v>
                </c:pt>
                <c:pt idx="1">
                  <c:v>0.15710124905784628</c:v>
                </c:pt>
                <c:pt idx="2">
                  <c:v>0.47057621822438145</c:v>
                </c:pt>
                <c:pt idx="3">
                  <c:v>0.4355498891000562</c:v>
                </c:pt>
                <c:pt idx="4">
                  <c:v>0.06542272027242702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3349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9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8EA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공개 특허의 실시예 데이터로 FFKM/FKM 가스켓의 배합비-물성 관계를 학습한 GP 모델과, 그 하이퍼파라미터를 베이지안 최적화로 찾은 과정을 요약합니다.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점은 개별 trial의 교차검증 R², 선은 시드별 누적 최고값입니다. 점선 이전은 초기 무작위 8회입니다.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25880"/>
            <a:ext cx="80467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불소고무 가스켓 배합비–물성 GP·BO 분석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반도체 공정용 불소고무 가스켓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배합비–물성 예측 모델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공개 특허 데이터 · 가우시안 프로세스 회귀 · 베이지안 최적화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2026.10.08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한눈에 보는 결과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특허 333건으로 학습한 GP가 경도·M100을 테스트 R² 0.92·0.81로 예측</a:t>
            </a:r>
            <a:endParaRPr lang="en-US" sz="1300" dirty="0"/>
          </a:p>
        </p:txBody>
      </p:sp>
      <p:sp>
        <p:nvSpPr>
          <p:cNvPr id="4" name="stat-card-0"/>
          <p:cNvSpPr/>
          <p:nvPr/>
        </p:nvSpPr>
        <p:spPr>
          <a:xfrm>
            <a:off x="457200" y="1417320"/>
            <a:ext cx="1920240" cy="2148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-num-0"/>
          <p:cNvSpPr txBox="1"/>
          <p:nvPr/>
        </p:nvSpPr>
        <p:spPr>
          <a:xfrm>
            <a:off x="594360" y="1600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412</a:t>
            </a:r>
            <a:endParaRPr lang="en-US" sz="4000" dirty="0"/>
          </a:p>
        </p:txBody>
      </p:sp>
      <p:sp>
        <p:nvSpPr>
          <p:cNvPr id="6" name="stat-lab-0"/>
          <p:cNvSpPr txBox="1"/>
          <p:nvPr/>
        </p:nvSpPr>
        <p:spPr>
          <a:xfrm>
            <a:off x="59436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수집 데이터</a:t>
            </a:r>
            <a:endParaRPr lang="en-US" sz="1300" dirty="0"/>
          </a:p>
        </p:txBody>
      </p:sp>
      <p:sp>
        <p:nvSpPr>
          <p:cNvPr id="7" name="stat-sub-0"/>
          <p:cNvSpPr txBox="1"/>
          <p:nvPr/>
        </p:nvSpPr>
        <p:spPr>
          <a:xfrm>
            <a:off x="59436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특허 40건의 실시예·비교예</a:t>
            </a:r>
            <a:endParaRPr lang="en-US" sz="1000" dirty="0"/>
          </a:p>
        </p:txBody>
      </p:sp>
      <p:sp>
        <p:nvSpPr>
          <p:cNvPr id="8" name="stat-card-1"/>
          <p:cNvSpPr/>
          <p:nvPr/>
        </p:nvSpPr>
        <p:spPr>
          <a:xfrm>
            <a:off x="2560320" y="1417320"/>
            <a:ext cx="1920240" cy="2148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-num-1"/>
          <p:cNvSpPr txBox="1"/>
          <p:nvPr/>
        </p:nvSpPr>
        <p:spPr>
          <a:xfrm>
            <a:off x="2697480" y="1600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333</a:t>
            </a:r>
            <a:endParaRPr lang="en-US" sz="4000" dirty="0"/>
          </a:p>
        </p:txBody>
      </p:sp>
      <p:sp>
        <p:nvSpPr>
          <p:cNvPr id="10" name="stat-lab-1"/>
          <p:cNvSpPr txBox="1"/>
          <p:nvPr/>
        </p:nvSpPr>
        <p:spPr>
          <a:xfrm>
            <a:off x="269748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모델링 데이터</a:t>
            </a:r>
            <a:endParaRPr lang="en-US" sz="1300" dirty="0"/>
          </a:p>
        </p:txBody>
      </p:sp>
      <p:sp>
        <p:nvSpPr>
          <p:cNvPr id="11" name="stat-sub-1"/>
          <p:cNvSpPr txBox="1"/>
          <p:nvPr/>
        </p:nvSpPr>
        <p:spPr>
          <a:xfrm>
            <a:off x="269748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정제 후 33개 특허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FFKM 243 · FKM 90</a:t>
            </a:r>
            <a:endParaRPr lang="en-US" sz="1000" dirty="0"/>
          </a:p>
        </p:txBody>
      </p:sp>
      <p:sp>
        <p:nvSpPr>
          <p:cNvPr id="12" name="stat-card-2"/>
          <p:cNvSpPr/>
          <p:nvPr/>
        </p:nvSpPr>
        <p:spPr>
          <a:xfrm>
            <a:off x="4663440" y="1417320"/>
            <a:ext cx="1920240" cy="2148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num-2"/>
          <p:cNvSpPr txBox="1"/>
          <p:nvPr/>
        </p:nvSpPr>
        <p:spPr>
          <a:xfrm>
            <a:off x="4800600" y="1600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525</a:t>
            </a:r>
            <a:endParaRPr lang="en-US" sz="4000" dirty="0"/>
          </a:p>
        </p:txBody>
      </p:sp>
      <p:sp>
        <p:nvSpPr>
          <p:cNvPr id="14" name="stat-lab-2"/>
          <p:cNvSpPr txBox="1"/>
          <p:nvPr/>
        </p:nvSpPr>
        <p:spPr>
          <a:xfrm>
            <a:off x="480060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하이퍼파라미터 실험</a:t>
            </a:r>
            <a:endParaRPr lang="en-US" sz="1300" dirty="0"/>
          </a:p>
        </p:txBody>
      </p:sp>
      <p:sp>
        <p:nvSpPr>
          <p:cNvPr id="15" name="stat-sub-2"/>
          <p:cNvSpPr txBox="1"/>
          <p:nvPr/>
        </p:nvSpPr>
        <p:spPr>
          <a:xfrm>
            <a:off x="480060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물성별 BO 3회 독립 반복</a:t>
            </a:r>
            <a:endParaRPr lang="en-US" sz="1000" dirty="0"/>
          </a:p>
        </p:txBody>
      </p:sp>
      <p:sp>
        <p:nvSpPr>
          <p:cNvPr id="16" name="stat-card-3"/>
          <p:cNvSpPr/>
          <p:nvPr/>
        </p:nvSpPr>
        <p:spPr>
          <a:xfrm>
            <a:off x="6766560" y="1417320"/>
            <a:ext cx="1920240" cy="2148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at-num-3"/>
          <p:cNvSpPr txBox="1"/>
          <p:nvPr/>
        </p:nvSpPr>
        <p:spPr>
          <a:xfrm>
            <a:off x="6903720" y="1600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0.92</a:t>
            </a:r>
            <a:endParaRPr lang="en-US" sz="4000" dirty="0"/>
          </a:p>
        </p:txBody>
      </p:sp>
      <p:sp>
        <p:nvSpPr>
          <p:cNvPr id="18" name="stat-lab-3"/>
          <p:cNvSpPr txBox="1"/>
          <p:nvPr/>
        </p:nvSpPr>
        <p:spPr>
          <a:xfrm>
            <a:off x="690372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최고 테스트 R²</a:t>
            </a:r>
            <a:endParaRPr lang="en-US" sz="1300" dirty="0"/>
          </a:p>
        </p:txBody>
      </p:sp>
      <p:sp>
        <p:nvSpPr>
          <p:cNvPr id="19" name="stat-sub-3"/>
          <p:cNvSpPr txBox="1"/>
          <p:nvPr/>
        </p:nvSpPr>
        <p:spPr>
          <a:xfrm>
            <a:off x="690372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경도 (RMSE 2.4 Shore A)</a:t>
            </a:r>
            <a:endParaRPr lang="en-US" sz="1000" dirty="0"/>
          </a:p>
        </p:txBody>
      </p:sp>
      <p:sp>
        <p:nvSpPr>
          <p:cNvPr id="20" name="glance-foot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하이퍼파라미터는 BO를 물성별 3회 독립 반복해 탐색하고, 상위 설정을 5×5 교차검증으로 재평가해 선택했습니다. 압축영구줄음률은 배합 정보만으로는 예측력이 낮아(테스트 R² 0.10) 가황·시험 조건 변수가 추가로 필요합니다.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특허 실시예 표에서 배합비–물성 데이터를 직접 추출</a:t>
            </a:r>
            <a:endParaRPr lang="en-US" sz="2400" dirty="0"/>
          </a:p>
        </p:txBody>
      </p:sp>
      <p:sp>
        <p:nvSpPr>
          <p:cNvPr id="3" name="step-0"/>
          <p:cNvSpPr/>
          <p:nvPr/>
        </p:nvSpPr>
        <p:spPr>
          <a:xfrm>
            <a:off x="457200" y="1097280"/>
            <a:ext cx="18288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h-0"/>
          <p:cNvSpPr txBox="1"/>
          <p:nvPr/>
        </p:nvSpPr>
        <p:spPr>
          <a:xfrm>
            <a:off x="566928" y="11887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특허 검색</a:t>
            </a:r>
            <a:endParaRPr lang="en-US" sz="1400" dirty="0"/>
          </a:p>
        </p:txBody>
      </p:sp>
      <p:sp>
        <p:nvSpPr>
          <p:cNvPr id="5" name="step-d-0"/>
          <p:cNvSpPr txBox="1"/>
          <p:nvPr/>
        </p:nvSpPr>
        <p:spPr>
          <a:xfrm>
            <a:off x="566928" y="1572768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4개 출원인 그룹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(Daikin · 미국계 · 일본 · 한중)</a:t>
            </a:r>
            <a:endParaRPr lang="en-US" sz="1050" dirty="0"/>
          </a:p>
        </p:txBody>
      </p:sp>
      <p:sp>
        <p:nvSpPr>
          <p:cNvPr id="6" name="arrow-0"/>
          <p:cNvSpPr/>
          <p:nvPr/>
        </p:nvSpPr>
        <p:spPr>
          <a:xfrm>
            <a:off x="2340864" y="1591056"/>
            <a:ext cx="182880" cy="256032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tep-1"/>
          <p:cNvSpPr/>
          <p:nvPr/>
        </p:nvSpPr>
        <p:spPr>
          <a:xfrm>
            <a:off x="2578608" y="1097280"/>
            <a:ext cx="18288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-h-1"/>
          <p:cNvSpPr txBox="1"/>
          <p:nvPr/>
        </p:nvSpPr>
        <p:spPr>
          <a:xfrm>
            <a:off x="2688336" y="11887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표 직접 파싱</a:t>
            </a:r>
            <a:endParaRPr lang="en-US" sz="1400" dirty="0"/>
          </a:p>
        </p:txBody>
      </p:sp>
      <p:sp>
        <p:nvSpPr>
          <p:cNvPr id="9" name="step-d-1"/>
          <p:cNvSpPr txBox="1"/>
          <p:nvPr/>
        </p:nvSpPr>
        <p:spPr>
          <a:xfrm>
            <a:off x="2688336" y="1572768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Google Patents HTML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&lt;table&gt; → 수치 원문 전사</a:t>
            </a:r>
            <a:endParaRPr lang="en-US" sz="1050" dirty="0"/>
          </a:p>
        </p:txBody>
      </p:sp>
      <p:sp>
        <p:nvSpPr>
          <p:cNvPr id="10" name="arrow-1"/>
          <p:cNvSpPr/>
          <p:nvPr/>
        </p:nvSpPr>
        <p:spPr>
          <a:xfrm>
            <a:off x="4462272" y="1591056"/>
            <a:ext cx="182880" cy="256032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tep-2"/>
          <p:cNvSpPr/>
          <p:nvPr/>
        </p:nvSpPr>
        <p:spPr>
          <a:xfrm>
            <a:off x="4700016" y="1097280"/>
            <a:ext cx="18288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-h-2"/>
          <p:cNvSpPr txBox="1"/>
          <p:nvPr/>
        </p:nvSpPr>
        <p:spPr>
          <a:xfrm>
            <a:off x="4809744" y="11887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스키마 통일</a:t>
            </a:r>
            <a:endParaRPr lang="en-US" sz="1400" dirty="0"/>
          </a:p>
        </p:txBody>
      </p:sp>
      <p:sp>
        <p:nvSpPr>
          <p:cNvPr id="13" name="step-d-2"/>
          <p:cNvSpPr txBox="1"/>
          <p:nvPr/>
        </p:nvSpPr>
        <p:spPr>
          <a:xfrm>
            <a:off x="4809744" y="1572768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고무 100 기준 phr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kgf/cm²·psi → MPa</a:t>
            </a:r>
            <a:endParaRPr lang="en-US" sz="1050" dirty="0"/>
          </a:p>
        </p:txBody>
      </p:sp>
      <p:sp>
        <p:nvSpPr>
          <p:cNvPr id="14" name="arrow-2"/>
          <p:cNvSpPr/>
          <p:nvPr/>
        </p:nvSpPr>
        <p:spPr>
          <a:xfrm>
            <a:off x="6583680" y="1591056"/>
            <a:ext cx="182880" cy="256032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-3"/>
          <p:cNvSpPr/>
          <p:nvPr/>
        </p:nvSpPr>
        <p:spPr>
          <a:xfrm>
            <a:off x="6821424" y="1097280"/>
            <a:ext cx="182880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-h-3"/>
          <p:cNvSpPr txBox="1"/>
          <p:nvPr/>
        </p:nvSpPr>
        <p:spPr>
          <a:xfrm>
            <a:off x="6931152" y="11887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정제·검증</a:t>
            </a:r>
            <a:endParaRPr lang="en-US" sz="1400" dirty="0"/>
          </a:p>
        </p:txBody>
      </p:sp>
      <p:sp>
        <p:nvSpPr>
          <p:cNvPr id="17" name="step-d-3"/>
          <p:cNvSpPr txBox="1"/>
          <p:nvPr/>
        </p:nvSpPr>
        <p:spPr>
          <a:xfrm>
            <a:off x="6931152" y="1572768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원문 대조 감사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8단계 정제 규칙</a:t>
            </a:r>
            <a:endParaRPr lang="en-US" sz="1050" dirty="0"/>
          </a:p>
        </p:txBody>
      </p:sp>
      <p:graphicFrame>
        <p:nvGraphicFramePr>
          <p:cNvPr id="18" name="chart-groups" descr=""/>
          <p:cNvGraphicFramePr/>
          <p:nvPr/>
        </p:nvGraphicFramePr>
        <p:xfrm>
          <a:off x="457200" y="2560320"/>
          <a:ext cx="51206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rules"/>
          <p:cNvSpPr txBox="1"/>
          <p:nvPr/>
        </p:nvSpPr>
        <p:spPr>
          <a:xfrm>
            <a:off x="5806440" y="26060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정제 규칙 (412 → 333행)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비반도체 용도 문서 제외 22행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함량 불명 성분 포함 행 제외 27행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고무 블렌드 제외 20행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비 Shore A 경도·모순값 제거, 패밀리 중복 2행 제거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CS는 시험온도 명시·60~100 h만 사용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하이퍼파라미터를 두 계층으로 나누어 최적화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커널 내부 값은 로그 주변우도로, 모델 설계 선택은 베이지안 최적화로 결정</a:t>
            </a:r>
            <a:endParaRPr lang="en-US" sz="1300" dirty="0"/>
          </a:p>
        </p:txBody>
      </p:sp>
      <p:sp>
        <p:nvSpPr>
          <p:cNvPr id="4" name="layer1-card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ayer1-text"/>
          <p:cNvSpPr txBox="1"/>
          <p:nvPr/>
        </p:nvSpPr>
        <p:spPr>
          <a:xfrm>
            <a:off x="640080" y="146304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계층 1 · 커널 내부 (연속값)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σf² 신호분산, ℓ 길이척도(ARD 시 성분별), σₙ² 잡음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방법: 로그 주변우도 최대화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L-BFGS-B (최대 300회) + 무작위 재시작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출력 y 정규화 → σₙ²/(σf²+σₙ²) = 설명 안 되는 잡음 비율</a:t>
            </a:r>
            <a:endParaRPr lang="en-US" sz="1400" dirty="0"/>
          </a:p>
        </p:txBody>
      </p:sp>
      <p:sp>
        <p:nvSpPr>
          <p:cNvPr id="6" name="layer2-card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ayer2-text"/>
          <p:cNvSpPr txBox="1"/>
          <p:nvPr/>
        </p:nvSpPr>
        <p:spPr>
          <a:xfrm>
            <a:off x="4892040" y="146304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계층 2 · 모델 설계 (혼합형 9차원)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커널(RBF·Matérn 1/2·3/2·5/2·RQ), ARD, 선형항, 입력 log1p, 출력 log, 특성집합 4종, ℓ·σₙ 초기값, σₙ 하한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방법: 베이지안 최적화 (EI, ξ=0.01)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대리모델 GP Matérn 5/2 ARD · 초기 무작위 8회 + 22회 EI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목적함수: 개발셋 5-fold CV R²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시드 3회 독립 반복 → 상위 3개 5×5 CV 재평가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실험 설계: 테스트셋은 마지막까지 봉인</a:t>
            </a:r>
            <a:endParaRPr lang="en-US" sz="2400" dirty="0"/>
          </a:p>
        </p:txBody>
      </p:sp>
      <p:sp>
        <p:nvSpPr>
          <p:cNvPr id="3" name="prot-dot-0"/>
          <p:cNvSpPr/>
          <p:nvPr/>
        </p:nvSpPr>
        <p:spPr>
          <a:xfrm>
            <a:off x="502920" y="10698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rot-num-0"/>
          <p:cNvSpPr txBox="1"/>
          <p:nvPr/>
        </p:nvSpPr>
        <p:spPr>
          <a:xfrm>
            <a:off x="502920" y="1069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prot-h-0"/>
          <p:cNvSpPr txBox="1"/>
          <p:nvPr/>
        </p:nvSpPr>
        <p:spPr>
          <a:xfrm>
            <a:off x="1097280" y="10241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Exp-0  기준모델</a:t>
            </a:r>
            <a:endParaRPr lang="en-US" sz="1300" dirty="0"/>
          </a:p>
        </p:txBody>
      </p:sp>
      <p:sp>
        <p:nvSpPr>
          <p:cNvPr id="6" name="prot-d-0"/>
          <p:cNvSpPr txBox="1"/>
          <p:nvPr/>
        </p:nvSpPr>
        <p:spPr>
          <a:xfrm>
            <a:off x="3611880" y="102412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sklearn 기본 GP · Ridge · Random Forest</a:t>
            </a:r>
            <a:endParaRPr lang="en-US" sz="1200" dirty="0"/>
          </a:p>
        </p:txBody>
      </p:sp>
      <p:sp>
        <p:nvSpPr>
          <p:cNvPr id="7" name="prot-dot-1"/>
          <p:cNvSpPr/>
          <p:nvPr/>
        </p:nvSpPr>
        <p:spPr>
          <a:xfrm>
            <a:off x="502920" y="167335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ot-num-1"/>
          <p:cNvSpPr txBox="1"/>
          <p:nvPr/>
        </p:nvSpPr>
        <p:spPr>
          <a:xfrm>
            <a:off x="502920" y="1673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prot-h-1"/>
          <p:cNvSpPr txBox="1"/>
          <p:nvPr/>
        </p:nvSpPr>
        <p:spPr>
          <a:xfrm>
            <a:off x="1097280" y="16276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Exp-1  커널 스크리닝</a:t>
            </a:r>
            <a:endParaRPr lang="en-US" sz="1300" dirty="0"/>
          </a:p>
        </p:txBody>
      </p:sp>
      <p:sp>
        <p:nvSpPr>
          <p:cNvPr id="10" name="prot-d-1"/>
          <p:cNvSpPr txBox="1"/>
          <p:nvPr/>
        </p:nvSpPr>
        <p:spPr>
          <a:xfrm>
            <a:off x="3611880" y="162763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커널 5종 × ARD 유무 = 9개 설정</a:t>
            </a:r>
            <a:endParaRPr lang="en-US" sz="1200" dirty="0"/>
          </a:p>
        </p:txBody>
      </p:sp>
      <p:sp>
        <p:nvSpPr>
          <p:cNvPr id="11" name="prot-dot-2"/>
          <p:cNvSpPr/>
          <p:nvPr/>
        </p:nvSpPr>
        <p:spPr>
          <a:xfrm>
            <a:off x="502920" y="227685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rot-num-2"/>
          <p:cNvSpPr txBox="1"/>
          <p:nvPr/>
        </p:nvSpPr>
        <p:spPr>
          <a:xfrm>
            <a:off x="502920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prot-h-2"/>
          <p:cNvSpPr txBox="1"/>
          <p:nvPr/>
        </p:nvSpPr>
        <p:spPr>
          <a:xfrm>
            <a:off x="1097280" y="22311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Exp-2  BO 반복 실험</a:t>
            </a:r>
            <a:endParaRPr lang="en-US" sz="1300" dirty="0"/>
          </a:p>
        </p:txBody>
      </p:sp>
      <p:sp>
        <p:nvSpPr>
          <p:cNvPr id="14" name="prot-d-2"/>
          <p:cNvSpPr txBox="1"/>
          <p:nvPr/>
        </p:nvSpPr>
        <p:spPr>
          <a:xfrm>
            <a:off x="3611880" y="22311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30 trial × 시드 3회 = 90 trial / 물성</a:t>
            </a:r>
            <a:endParaRPr lang="en-US" sz="1200" dirty="0"/>
          </a:p>
        </p:txBody>
      </p:sp>
      <p:sp>
        <p:nvSpPr>
          <p:cNvPr id="15" name="prot-dot-3"/>
          <p:cNvSpPr/>
          <p:nvPr/>
        </p:nvSpPr>
        <p:spPr>
          <a:xfrm>
            <a:off x="502920" y="28803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rot-num-3"/>
          <p:cNvSpPr txBox="1"/>
          <p:nvPr/>
        </p:nvSpPr>
        <p:spPr>
          <a:xfrm>
            <a:off x="50292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prot-h-3"/>
          <p:cNvSpPr txBox="1"/>
          <p:nvPr/>
        </p:nvSpPr>
        <p:spPr>
          <a:xfrm>
            <a:off x="1097280" y="2834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Exp-3  강건성 재평가</a:t>
            </a:r>
            <a:endParaRPr lang="en-US" sz="1300" dirty="0"/>
          </a:p>
        </p:txBody>
      </p:sp>
      <p:sp>
        <p:nvSpPr>
          <p:cNvPr id="18" name="prot-d-3"/>
          <p:cNvSpPr txBox="1"/>
          <p:nvPr/>
        </p:nvSpPr>
        <p:spPr>
          <a:xfrm>
            <a:off x="3611880" y="283464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상위 3개 설정 5-fold × 5회 → 최종 선택</a:t>
            </a:r>
            <a:endParaRPr lang="en-US" sz="1200" dirty="0"/>
          </a:p>
        </p:txBody>
      </p:sp>
      <p:sp>
        <p:nvSpPr>
          <p:cNvPr id="19" name="prot-dot-4"/>
          <p:cNvSpPr/>
          <p:nvPr/>
        </p:nvSpPr>
        <p:spPr>
          <a:xfrm>
            <a:off x="502920" y="348386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rot-num-4"/>
          <p:cNvSpPr txBox="1"/>
          <p:nvPr/>
        </p:nvSpPr>
        <p:spPr>
          <a:xfrm>
            <a:off x="502920" y="3483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prot-h-4"/>
          <p:cNvSpPr txBox="1"/>
          <p:nvPr/>
        </p:nvSpPr>
        <p:spPr>
          <a:xfrm>
            <a:off x="1097280" y="34381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Exp-4  최종 검증</a:t>
            </a:r>
            <a:endParaRPr lang="en-US" sz="1300" dirty="0"/>
          </a:p>
        </p:txBody>
      </p:sp>
      <p:sp>
        <p:nvSpPr>
          <p:cNvPr id="22" name="prot-d-4"/>
          <p:cNvSpPr txBox="1"/>
          <p:nvPr/>
        </p:nvSpPr>
        <p:spPr>
          <a:xfrm>
            <a:off x="3611880" y="343814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20% 홀드아웃 테스트 · 특허 단위 그룹 CV</a:t>
            </a:r>
            <a:endParaRPr lang="en-US" sz="1200" dirty="0"/>
          </a:p>
        </p:txBody>
      </p:sp>
      <p:sp>
        <p:nvSpPr>
          <p:cNvPr id="23" name="prot-dot-5"/>
          <p:cNvSpPr/>
          <p:nvPr/>
        </p:nvSpPr>
        <p:spPr>
          <a:xfrm>
            <a:off x="502920" y="408736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prot-num-5"/>
          <p:cNvSpPr txBox="1"/>
          <p:nvPr/>
        </p:nvSpPr>
        <p:spPr>
          <a:xfrm>
            <a:off x="50292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prot-h-5"/>
          <p:cNvSpPr txBox="1"/>
          <p:nvPr/>
        </p:nvSpPr>
        <p:spPr>
          <a:xfrm>
            <a:off x="1097280" y="40416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Exp-5·6  배합 설계 BO</a:t>
            </a:r>
            <a:endParaRPr lang="en-US" sz="1300" dirty="0"/>
          </a:p>
        </p:txBody>
      </p:sp>
      <p:sp>
        <p:nvSpPr>
          <p:cNvPr id="26" name="prot-d-5"/>
          <p:cNvSpPr txBox="1"/>
          <p:nvPr/>
        </p:nvSpPr>
        <p:spPr>
          <a:xfrm>
            <a:off x="3611880" y="404164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회고적 BO 벤치마크 · 제약 EI 배합 제안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BO 반복 실험: 시드가 달라도 비슷한 최적값에 수렴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시드 간 최고 CV R² 차이 ≤ 0.014 — 결과가 난수에 둔감, 입력 표현(특성 집합·변환)이 커널보다 중요</a:t>
            </a:r>
            <a:endParaRPr lang="en-US" sz="1300" dirty="0"/>
          </a:p>
        </p:txBody>
      </p:sp>
      <p:pic>
        <p:nvPicPr>
          <p:cNvPr id="4" name="fig-bo-convergence" descr="fig-bo-converg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18694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최적 하이퍼파라미터와 테스트 성능</a:t>
            </a:r>
            <a:endParaRPr lang="en-US" sz="2400" dirty="0"/>
          </a:p>
        </p:txBody>
      </p:sp>
      <p:graphicFrame>
        <p:nvGraphicFramePr>
          <p:cNvPr id="8" name="be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40280"/>
                <a:gridCol w="1143000"/>
                <a:gridCol w="1005840"/>
                <a:gridCol w="868680"/>
                <a:gridCol w="86868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물성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커널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x / y 변환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특성집합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CV R²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R²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95% 포함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경도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Matérn ν=3/2 + ARD + 선형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log1p / log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full_agg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0.74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0.92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98%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인장강도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Matérn ν=1/2 등방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log1p / none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full_cure6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0.69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0.48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92%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신율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Matérn ν=1/2 + ARD + 선형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std / log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compact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0.63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-0.19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93%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M100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Matérn ν=3/2 등방 + 선형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std / none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full_cure6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0.72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0.81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압축영구줄음률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Matérn ν=5/2 + ARD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log1p / log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full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0.33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0.10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631"/>
                          </a:solidFill>
                        </a:rPr>
                        <a:t>86%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-test-r2" descr=""/>
          <p:cNvGraphicFramePr/>
          <p:nvPr/>
        </p:nvGraphicFramePr>
        <p:xfrm>
          <a:off x="457200" y="2743200"/>
          <a:ext cx="82296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예측 vs 실측: 불확실성까지 함께 제공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경도 95% 예측구간 포함률 98% — 불확실성 추정이 실측과 일치 / 신율의 큰 오차 1점은 학습 범위 3배 밖 외삽</a:t>
            </a:r>
            <a:endParaRPr lang="en-US" sz="1300" dirty="0"/>
          </a:p>
        </p:txBody>
      </p:sp>
      <p:pic>
        <p:nvPicPr>
          <p:cNvPr id="4" name="fig-parity" descr="fig-par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16630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배합 설계에 BO 적용: 더 적은 실험으로 최적 배합 도달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상위 5% 배합 도달까지 평균 추가 실험 수 — 경도: BO 1.5회 vs 무작위 9.6회 / 인장강도: BO 6.7회 vs 무작위 7.7회</a:t>
            </a:r>
            <a:endParaRPr lang="en-US" sz="1300" dirty="0"/>
          </a:p>
        </p:txBody>
      </p:sp>
      <p:pic>
        <p:nvPicPr>
          <p:cNvPr id="4" name="fig-pool-bo" descr="fig-pool-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8229600" cy="2240600"/>
          </a:xfrm>
          <a:prstGeom prst="rect">
            <a:avLst/>
          </a:prstGeom>
        </p:spPr>
      </p:pic>
      <p:sp>
        <p:nvSpPr>
          <p:cNvPr id="5" name="design-note"/>
          <p:cNvSpPr txBox="1"/>
          <p:nvPr/>
        </p:nvSpPr>
        <p:spPr>
          <a:xfrm>
            <a:off x="457200" y="3703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제약 기대개선(cEI)으로 경도 70~80·신율 ≥ 150% 사양 안에서 인장강도 개선 가능성이 가장 큰 차기 실험 10건 제안 (엑셀 BO_Recommend) — 예측 평균은 현 최고값보다 낮고 불확실성이 큰 탐색형 제안이므로, 실측 후 모델을 갱신하는 순환으로 활용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E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결론과 다음 단계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258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특허 40건에서 412건 수집 → 333건 정제 DB (엑셀)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BO 525회 실험: 최적 GP는 Matérn 계열, 입력 표현이 성능을 좌우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경도 R² 0.92 · M100 0.81 실무 활용 가능 / 압축영구줄음률은 추가 변수 필요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다음 단계: BO 제안 배합 1~3개 실험 → 데이터 추가 → 모델 재학습 순환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사내 데이터 결합·계층형/다중출력 GP로 특허 간 이질성 보정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sket GP-BO">
  <a:themeElements>
    <a:clrScheme name="Gasket GP-BO">
      <a:dk1>
        <a:srgbClr val="1B2631"/>
      </a:dk1>
      <a:lt1>
        <a:srgbClr val="FFFFFF"/>
      </a:lt1>
      <a:dk2>
        <a:srgbClr val="33495C"/>
      </a:dk2>
      <a:lt2>
        <a:srgbClr val="EEF2F5"/>
      </a:lt2>
      <a:accent1>
        <a:srgbClr val="0E7C86"/>
      </a:accent1>
      <a:accent2>
        <a:srgbClr val="E0782B"/>
      </a:accent2>
      <a:accent3>
        <a:srgbClr val="6C8EA4"/>
      </a:accent3>
      <a:accent4>
        <a:srgbClr val="B8C7D3"/>
      </a:accent4>
      <a:accent5>
        <a:srgbClr val="2E6B3F"/>
      </a:accent5>
      <a:accent6>
        <a:srgbClr val="9B3D3D"/>
      </a:accent6>
      <a:hlink>
        <a:srgbClr val="0E7C86"/>
      </a:hlink>
      <a:folHlink>
        <a:srgbClr val="6C8EA4"/>
      </a:folHlink>
    </a:clrScheme>
    <a:fontScheme name="Gasket GP-B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불소고무 가스켓 배합비-물성 GP·BO 분석</dc:title>
  <dc:subject>PptxGenJS Presentation</dc:subject>
  <dc:creator>PptxGenJS</dc:creator>
  <cp:lastModifiedBy>PptxGenJS</cp:lastModifiedBy>
  <cp:revision>1</cp:revision>
  <dcterms:created xsi:type="dcterms:W3CDTF">2026-10-07T15:08:15Z</dcterms:created>
  <dcterms:modified xsi:type="dcterms:W3CDTF">2026-10-07T15:08:15Z</dcterms:modified>
</cp:coreProperties>
</file>